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34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EXPECTANCY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for Predictive Health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of Global Health Determinants (2000-2015)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• Machine Learning • SQL •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234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challenge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1" y="2560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Health Observatory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1371" y="3228975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5204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analytical approach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4426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886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outcomes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1371" y="4583430"/>
            <a:ext cx="442686" cy="457199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 flipV="1">
            <a:off x="776514" y="4614091"/>
            <a:ext cx="166915" cy="369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56937" y="4572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Impact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56937" y="47777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13829" y="1036592"/>
            <a:ext cx="320040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0823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79589" y="1310731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779589" y="1630771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Analyzed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79589" y="1950811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2000-2015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779589" y="2270851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79589" y="2590891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2,938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779589" y="2910931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79589" y="3230971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779589" y="3551011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79589" y="37868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779589" y="410690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flipV="1">
            <a:off x="551543" y="86868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51543" y="1143000"/>
            <a:ext cx="8229600" cy="1645920"/>
          </a:xfrm>
          <a:prstGeom prst="rect">
            <a:avLst/>
          </a:prstGeom>
          <a:solidFill>
            <a:srgbClr val="028090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accurately predict life expectancy across countries by analyzing immunization, mortality, economic, and social factors—and identify which interventions matter most for improving population health outcomes?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032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CHALLENGING?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5726" y="3285671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4899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Interdependencies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51717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is influenced by multiple interrelated factors—health, economic, education, and social conditions [don't act in isolation(GDP)]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005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4313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0055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2748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from less-developed nations, inconsistent reporting standards, and varying data collection methodologies across 193 countries(The missing data were from less known countries like Vanuatu, Tonga, Togo, Cabo Verde etc.)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851" y="4671423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61851" y="471061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663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743450"/>
            <a:ext cx="7315200" cy="251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of data with evolving healthcare systems, economic conditions, and policy changes requiring time-series considerations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11580"/>
            <a:ext cx="32004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IN EXISTING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studies ignored immunization impact (Hepatitis B, Polio, Diphtheria)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used single-year snapshots rather than longitudinal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Development Index (HDI) correlation was unexplored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focus on developing nations' specific challenges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335024"/>
            <a:ext cx="393192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37760" y="13944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1442827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Guidance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63437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governments prioritize health investments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03704"/>
            <a:ext cx="393192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37760" y="22539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23836" y="2336051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23836" y="25923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cost-effective interventions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12811"/>
            <a:ext cx="393192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7760" y="3202807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23836" y="32064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23836" y="3440551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health disparities worldwide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50208"/>
            <a:ext cx="393192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4947385" y="40416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23836" y="4130682"/>
            <a:ext cx="2603633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5492" y="4300087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evidence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189" y="3840480"/>
            <a:ext cx="4572000" cy="968061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189" y="389991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ULTIMATE GOAL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99724" y="4092541"/>
            <a:ext cx="8195912" cy="739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countries to make evidence-based decisions that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life expectancy gains while optimizing limited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budgets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RESEARCH QUESTIONS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93192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predicting factors truly affect life expectancy?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9385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correlation from causation across 20+ variables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low-life-expectancy countries (&lt;65 years) increase healthcare spending?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8529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ROI of healthcare investment vs. other interventions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93192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infant and adult mortality rates impact overall life expectancy?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7673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mortality-longevity relationship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39319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97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impact of schooling on human lifespan?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6817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education's contribution to health outcomes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393192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immunization coverage significantly improve life expectancy?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9385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Hepatitis B, Polio, and Diphtheria vaccination effects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39319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lifestyle factors (alcohol, BMI) correlate with longevity?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8529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behavioral determinants of health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393192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4068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densely populated countries have lower life expectancy?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7673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population density hypothesis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36257" y="45354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drive our analytical framework and model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853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37260"/>
            <a:ext cx="2286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09074" y="1371600"/>
            <a:ext cx="82296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Health Observatory (GHO) + United Nations Economic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2000-2015 | Coverage: 193 Countries | Observations: 2,938 rows × 22 columns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0771" y="2560320"/>
            <a:ext cx="1169469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20202" y="2571750"/>
            <a:ext cx="1294598" cy="90297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154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14762" y="2560320"/>
            <a:ext cx="1169469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62813" y="2560320"/>
            <a:ext cx="144379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2,938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3154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853" y="350901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06670" y="3844269"/>
            <a:ext cx="1329491" cy="1243584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386" y="386851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Factors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4953" y="428625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Hepatitis 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4953" y="45491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1797" y="481203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Diphtheria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0713" y="3844269"/>
            <a:ext cx="1294600" cy="1243585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7717" y="3882771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Factors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264533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Adult Mortality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40280" y="45034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Infant Deaths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4782733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HIV/AIDS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80" y="3844269"/>
            <a:ext cx="1650731" cy="1225838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764682" y="3879463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Factors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0" y="428625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31920" y="4556119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Healthcare Expenditure 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48763" y="4836213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Expenditure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40541" y="3838975"/>
            <a:ext cx="1322271" cy="122583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9496" y="3844269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Factors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4218331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560" y="4453067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 Composition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98294" y="4709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Alcohol Consumption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39541" y="3879462"/>
            <a:ext cx="1499133" cy="1161167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5477" y="386249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41588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76700" y="4407167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Thinness 5-9 yrs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89934" y="4690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Thinness 10-19 yrs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86589"/>
            <a:ext cx="347472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64592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91440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731520" cy="2286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64592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91440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73152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164592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5915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59152"/>
            <a:ext cx="73152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15184"/>
            <a:ext cx="164592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615184"/>
            <a:ext cx="91440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615184"/>
            <a:ext cx="73152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164592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Expenditure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871216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871216"/>
            <a:ext cx="73152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127248"/>
            <a:ext cx="164592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127248"/>
            <a:ext cx="91440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127248"/>
            <a:ext cx="731520" cy="228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164592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383280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83280"/>
            <a:ext cx="73152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STRATEGY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17830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828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1828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20116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 using SimpleImputer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2860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331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2331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5146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(Q1-1.5×IQR, Q3+1.5×IQR)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7889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8346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74920" y="2834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30175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mean (preserve data)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2918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337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74920" y="33375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352044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categorical variables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7947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8404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74920" y="3840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4032985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numerical features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2976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343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74920" y="43434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74920" y="45262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duplicates, consistent types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0315" y="3794760"/>
            <a:ext cx="4160520" cy="7543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" y="3850105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OUTCOME: Clean dataset with 2,938 complete records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ML modeling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ANALYTICAL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49429"/>
            <a:ext cx="29260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71450" y="1299411"/>
            <a:ext cx="11430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7170" y="137160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74746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7555" y="20116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+ UN datasets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682496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670886" y="1299411"/>
            <a:ext cx="114300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63065" y="1383631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12394" y="164880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21719" y="1907486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&amp; outliers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07269" y="1626669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40619" y="1281363"/>
            <a:ext cx="917332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3911" y="1352349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73617" y="16524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1289" y="189738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correlations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43062" y="1655545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75585" y="1280160"/>
            <a:ext cx="94899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285" y="133237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07005" y="16524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07005" y="1926736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47135" y="166565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747185" y="1260549"/>
            <a:ext cx="960120" cy="1027256"/>
          </a:xfrm>
          <a:prstGeom prst="rect">
            <a:avLst/>
          </a:prstGeom>
          <a:solidFill>
            <a:srgbClr val="02C39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7165" y="13913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32885" y="17113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2885" y="198569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 ML algorithms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69406" y="1675277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004484" y="1280160"/>
            <a:ext cx="914401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3045" y="14108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58765" y="17308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58765" y="2005184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metrics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 flipH="1">
            <a:off x="7918885" y="1730864"/>
            <a:ext cx="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62524" y="1297124"/>
            <a:ext cx="914401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2045" y="1489748"/>
            <a:ext cx="1188720" cy="180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048525" y="1680331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86725" y="1932753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recommendations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METHODOLOGICAL DECISIONS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3931920" cy="777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over Classification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is continuous; need precise predictions, not categories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566160"/>
            <a:ext cx="39319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Focus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91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interactions require tree-based models (RF, XGBoost) over linear regression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419199"/>
            <a:ext cx="3931920" cy="7086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445909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(80-20)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94360" y="474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data for training while reserving 588 samples for unbiased testing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4434840"/>
            <a:ext cx="39319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453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20-Fold Cross-Validation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091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performance estimation with std dev &lt; 1% ensures model stability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29100" y="2816352"/>
            <a:ext cx="4137660" cy="625883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2" name="Text 50"/>
          <p:cNvSpPr/>
          <p:nvPr/>
        </p:nvSpPr>
        <p:spPr>
          <a:xfrm>
            <a:off x="4251960" y="2825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212256" y="3048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scikit-learn, XGBoost) • Jupyter Notebook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 • SQL • Excel • Seaborn &amp; Plotly for visualizations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41248"/>
            <a:ext cx="347472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7397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VISUAL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31174"/>
            <a:ext cx="361188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090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Upward Trend (2000-2015)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522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Global average life expectancy increased from ~67 to ~71 years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352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Healthcare improvements working, but disparities remain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5614"/>
            <a:ext cx="3602255" cy="1091986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7534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Development Status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496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Developed countries: ~79 years | Developing: ~67 years (12-year gap)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6970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Economic development strongly correlates with longevity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67912"/>
            <a:ext cx="3489158" cy="1029422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0978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 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18410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Strong positive correlation: Schooling ↑ → Life Expectancy 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50414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Education investment yields long-term health benefits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1331174"/>
            <a:ext cx="3703320" cy="11369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44090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Adult Mortality Effect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171522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Strongest negative predictor:  High adult mortality = Low life expectancy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0352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Reducing preventable adult deaths is 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96614" y="2611334"/>
            <a:ext cx="3703320" cy="1046266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67534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Alcohol Paradox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294966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Developed nations consume  more alcohol but live longer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326970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Wealth/healthcare access offsets lifestyle risks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02767" y="3904488"/>
            <a:ext cx="3806793" cy="992846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59455" y="390978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GDP Correlation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59455" y="418410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Moderate positive correlation, but non-linear relationship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59455" y="450414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Healthcare quality matters more than pure economic output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71568"/>
            <a:ext cx="3657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TESTED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315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2004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73152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320040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2194560"/>
            <a:ext cx="118872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2194560"/>
            <a:ext cx="118872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Regressor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51460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51460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73152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834640"/>
            <a:ext cx="320040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83464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834640"/>
            <a:ext cx="118872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154680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905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315468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11887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METRICS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402336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24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(---)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4988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Model explains ---% of variance in life expectancy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7365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Exceptional fit—only 4.1% unexplained by our 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114800"/>
            <a:ext cx="402336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224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(----years)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44988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Average prediction error is --- years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7365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precision for policy planning (real-world applicability)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51263"/>
            <a:ext cx="29260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33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OUR RESEARCH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44534"/>
            <a:ext cx="393192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359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factors truly affect life expectancy?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560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Top predictors: Adult Mortality (-0.70), Schooling (+0.75), Income Composition (+0.72), HIV/AIDS (-0.56), BMI (+0.56)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444534"/>
            <a:ext cx="3931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359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Should low-LE countries increase healthcare spending?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8560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Yes, but strategically—focus on reducing adult/infant mortality and immunization coverage yields better ROI than general GDP growth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33254"/>
            <a:ext cx="393192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789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Impact of infant/adult mortality?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990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Adult mortality is the strongest negative predictor. Reducing mortality rates has direct, measurable impact on population longevity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87534"/>
            <a:ext cx="3931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789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Effect of schooling?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9990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Each additional year of schooling correlates with ~1.5 years increase in life expectancy (second strongest positive predictor)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534"/>
            <a:ext cx="3931920" cy="1005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219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immunization coverage matter?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1420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Moderate positive effect—Hepatitis B, Polio, Diphtheria coverage shows consistent gains, especially in developing nations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730534"/>
            <a:ext cx="3931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8219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Lifestyle factors (alcohol, BMI)?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41420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BMI shows positive correlation (moderate). Alcohol consumption higher in developed countries with better healthcare—confounding variable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4805680"/>
            <a:ext cx="7589520" cy="274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2874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Population density effect?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103" y="4827814"/>
            <a:ext cx="62200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Weak correlation—urban density less important than healthcare access, sanitation, and economic development</a:t>
            </a:r>
            <a:endParaRPr lang="en-US" sz="7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F3489A-0101-2BBA-C0B8-60F3D00E7118}"/>
              </a:ext>
            </a:extLst>
          </p:cNvPr>
          <p:cNvSpPr/>
          <p:nvPr/>
        </p:nvSpPr>
        <p:spPr>
          <a:xfrm>
            <a:off x="594360" y="1930400"/>
            <a:ext cx="3244669" cy="3773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CA2F1C-1B90-205A-1091-D6CD78AF2502}"/>
              </a:ext>
            </a:extLst>
          </p:cNvPr>
          <p:cNvSpPr/>
          <p:nvPr/>
        </p:nvSpPr>
        <p:spPr>
          <a:xfrm>
            <a:off x="4796246" y="1847487"/>
            <a:ext cx="3404325" cy="5114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2AFAEA-01B4-A6B4-537B-2DE4F8196302}"/>
              </a:ext>
            </a:extLst>
          </p:cNvPr>
          <p:cNvSpPr/>
          <p:nvPr/>
        </p:nvSpPr>
        <p:spPr>
          <a:xfrm>
            <a:off x="640080" y="2953294"/>
            <a:ext cx="3351349" cy="6128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5D232B-035D-96CF-E953-6DC1039BC489}"/>
              </a:ext>
            </a:extLst>
          </p:cNvPr>
          <p:cNvSpPr/>
          <p:nvPr/>
        </p:nvSpPr>
        <p:spPr>
          <a:xfrm>
            <a:off x="4796246" y="3105331"/>
            <a:ext cx="3317240" cy="3773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C4F6C6-D767-9694-3456-5476A7B4FE9B}"/>
              </a:ext>
            </a:extLst>
          </p:cNvPr>
          <p:cNvSpPr/>
          <p:nvPr/>
        </p:nvSpPr>
        <p:spPr>
          <a:xfrm>
            <a:off x="693419" y="4233454"/>
            <a:ext cx="3377838" cy="3773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D70DE6-AFF3-E44B-5D13-0F56EA2E2877}"/>
              </a:ext>
            </a:extLst>
          </p:cNvPr>
          <p:cNvSpPr/>
          <p:nvPr/>
        </p:nvSpPr>
        <p:spPr>
          <a:xfrm>
            <a:off x="4709160" y="4127499"/>
            <a:ext cx="3244669" cy="5675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30EDCD-E257-7D25-60B5-B45E1C426E2F}"/>
              </a:ext>
            </a:extLst>
          </p:cNvPr>
          <p:cNvSpPr/>
          <p:nvPr/>
        </p:nvSpPr>
        <p:spPr>
          <a:xfrm>
            <a:off x="800825" y="4963886"/>
            <a:ext cx="5483861" cy="838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PROJECT UNIQUE?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5246" y="891540"/>
            <a:ext cx="38404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DIFFER FROM EXISTING RESEARCH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0116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417320"/>
            <a:ext cx="29260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1417320"/>
            <a:ext cx="310896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29260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Single-year snapshots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1783080"/>
            <a:ext cx="31089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16-year longitudinal data (2000-2015)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20116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Focus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103120"/>
            <a:ext cx="29260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ignored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2103120"/>
            <a:ext cx="31089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analysis of Hepatitis B, Polio, Diphtheria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423160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 Consideration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423160"/>
            <a:ext cx="29260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423160"/>
            <a:ext cx="31089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composition of resources analyzed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743200"/>
            <a:ext cx="20116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743200"/>
            <a:ext cx="29260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regions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743200"/>
            <a:ext cx="31089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193-country dataset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063240"/>
            <a:ext cx="20116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063240"/>
            <a:ext cx="292608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3063240"/>
            <a:ext cx="31089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(XGBoost, Random Forest)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383280"/>
            <a:ext cx="20116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127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Nations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383280"/>
            <a:ext cx="29260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94960" y="3383280"/>
            <a:ext cx="310896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to all countries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59"/>
            <a:ext cx="2103120" cy="854891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40080" y="42748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Integration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2718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combine immunization, mortality, economic, AND social factors in one model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4238171"/>
            <a:ext cx="1965960" cy="86868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01389" y="437025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2720340" y="4240893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 Techniques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2034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96% accuracy—significantly outperforms traditional linear models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45726" y="4219666"/>
            <a:ext cx="2011680" cy="868680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7977" y="425921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4754880" y="42463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5206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guidance on which interventions provide highest ROI for policymakers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14309" y="4217852"/>
            <a:ext cx="2063931" cy="833482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0583" y="428606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7184572" y="42291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Validation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84572" y="45034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20-fold cross-validation ensures findings generalize across populations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2514" y="870131"/>
            <a:ext cx="32004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39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MODEL CAN BE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218329"/>
            <a:ext cx="3931920" cy="18288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01209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1446929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Health Ministries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5840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5840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budget allocation to high-impact interventions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2416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2416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evidence-based health targets for 5-10 year plans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58992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58992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progress against predicted outcomes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0957"/>
            <a:ext cx="3931920" cy="18288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01209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03520" y="1446929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Organizations (WHO, UN)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5840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85840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countries needing urgent support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22416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22416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intervention programs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58992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58992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development aid based on potential impact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5790" y="3184289"/>
            <a:ext cx="3817620" cy="1195905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51" y="321887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185091" y="324688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Researchers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2520" y="353851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473631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future longitudinal studies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2520" y="3745883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23010" y="3650979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hypotheses about health determinants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2520" y="39955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23010" y="39090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intervention effectiveness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20592" y="3183357"/>
            <a:ext cx="3924300" cy="1297775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3719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257800" y="328291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Analysts &amp; Think Tanks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68720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52110" y="3608723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analysis of health policies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89006" y="39955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01310" y="390013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modeling (what if we increase schooling by 2 years?)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89006" y="4225471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36598" y="4143175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comparative analysis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4616670"/>
            <a:ext cx="822960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865051" y="4699691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developing country can input its current health metrics → Model predicts expected life expectancy → Compare with actual → Identify gaps → Target interventions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DIRECTIONS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64108"/>
            <a:ext cx="38404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5955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4264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Currency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824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ends at 2015—COVID-19 and recent healthcare disruptions not captured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122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03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20370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597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factors (air quality, climate), genetic predispositions not included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411480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9809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vs Correlation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2369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shows associations but cannot definitively prove causal relationships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58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75818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Aggregation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14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within-country disparities (urban vs rural, income inequality)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007437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1335024"/>
            <a:ext cx="3931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426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12080" y="14264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 2016-2024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16824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pandemic impact and recent healthcare innovations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112264"/>
            <a:ext cx="393192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037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12080" y="22037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Sub-National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24597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State/province-level granularity for targeted interventions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393192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12080" y="29809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236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to capture non-linear interactions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666744"/>
            <a:ext cx="393192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58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12080" y="375818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401421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trends based on current trajectories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7880" y="4443984"/>
            <a:ext cx="7680960" cy="61946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4470837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EXTENSIBILITY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 rot="10800000" flipV="1">
            <a:off x="1031965" y="4554439"/>
            <a:ext cx="7117805" cy="5410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can be adapted for other health outcomes: Infant mortality, disease prevalence, healthcare cost prediction, etc.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94743" y="1599837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4824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20544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 highly accurate ML model (---- R², RMSE ---- years)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61692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Identified key drivers: Schooling, Adult Mortality, Income Composition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02840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Proved immunization impact often overlooked in past research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43988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Provided actionable framework for health policy decisions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Demonstrated superiority of ensemble methods over linear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851366"/>
            <a:ext cx="731520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3424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308566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is predictable and improvable. By focusing on education, reducing preventable mortality, and ensuring universal immunization, countries can make measurable gains in population health—even with limited resources.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6035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F2787-567E-F7FD-34F1-92D034C326B9}"/>
              </a:ext>
            </a:extLst>
          </p:cNvPr>
          <p:cNvSpPr/>
          <p:nvPr/>
        </p:nvSpPr>
        <p:spPr>
          <a:xfrm>
            <a:off x="3214914" y="2708366"/>
            <a:ext cx="3519715" cy="183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CE0B68-605B-0C75-BF58-F3B5F06A9BFA}"/>
              </a:ext>
            </a:extLst>
          </p:cNvPr>
          <p:cNvSpPr/>
          <p:nvPr/>
        </p:nvSpPr>
        <p:spPr>
          <a:xfrm>
            <a:off x="3926114" y="3520803"/>
            <a:ext cx="3519715" cy="183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C69AB9-9443-0288-D1DA-9ECCA730438C}"/>
              </a:ext>
            </a:extLst>
          </p:cNvPr>
          <p:cNvSpPr/>
          <p:nvPr/>
        </p:nvSpPr>
        <p:spPr>
          <a:xfrm>
            <a:off x="3773714" y="3121842"/>
            <a:ext cx="3519715" cy="183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4ADD4D-452F-2782-E9F8-30F8A5C3D386}"/>
              </a:ext>
            </a:extLst>
          </p:cNvPr>
          <p:cNvSpPr/>
          <p:nvPr/>
        </p:nvSpPr>
        <p:spPr>
          <a:xfrm>
            <a:off x="3926113" y="2285274"/>
            <a:ext cx="3519715" cy="183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29EA44-639D-53FF-2D9E-377EB6471801}"/>
              </a:ext>
            </a:extLst>
          </p:cNvPr>
          <p:cNvSpPr/>
          <p:nvPr/>
        </p:nvSpPr>
        <p:spPr>
          <a:xfrm>
            <a:off x="1204685" y="4261395"/>
            <a:ext cx="6842035" cy="6516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1779</Words>
  <Application>Microsoft Office PowerPoint</Application>
  <PresentationFormat>On-screen Show (16:9)</PresentationFormat>
  <Paragraphs>404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Life Expectancy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Expectancy Analysis</dc:title>
  <dc:subject>Life Expectancy Analysis - ML Project</dc:subject>
  <dc:creator>Data Analyst</dc:creator>
  <cp:lastModifiedBy>Aman Kumar</cp:lastModifiedBy>
  <cp:revision>3</cp:revision>
  <dcterms:created xsi:type="dcterms:W3CDTF">2026-02-01T13:19:21Z</dcterms:created>
  <dcterms:modified xsi:type="dcterms:W3CDTF">2026-02-01T16:38:19Z</dcterms:modified>
</cp:coreProperties>
</file>